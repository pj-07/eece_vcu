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531" r:id="rId2"/>
    <p:sldId id="289" r:id="rId3"/>
    <p:sldId id="292" r:id="rId4"/>
    <p:sldId id="294" r:id="rId5"/>
    <p:sldId id="536" r:id="rId6"/>
    <p:sldId id="298" r:id="rId7"/>
    <p:sldId id="533" r:id="rId8"/>
    <p:sldId id="532" r:id="rId9"/>
    <p:sldId id="534" r:id="rId10"/>
    <p:sldId id="535" r:id="rId11"/>
    <p:sldId id="301" r:id="rId12"/>
    <p:sldId id="302" r:id="rId13"/>
    <p:sldId id="303" r:id="rId14"/>
    <p:sldId id="305" r:id="rId15"/>
    <p:sldId id="307" r:id="rId16"/>
  </p:sldIdLst>
  <p:sldSz cx="12192000" cy="6858000"/>
  <p:notesSz cx="6858000" cy="9144000"/>
  <p:embeddedFontLst>
    <p:embeddedFont>
      <p:font typeface="Aharoni" panose="02010803020104030203" pitchFamily="2" charset="-79"/>
      <p:bold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Medium" panose="00000600000000000000" pitchFamily="2" charset="0"/>
      <p:regular r:id="rId24"/>
      <p:italic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Plus Jakarta Sans" panose="020B0604020202020204" charset="0"/>
      <p:regular r:id="rId30"/>
      <p:bold r:id="rId31"/>
      <p:italic r:id="rId32"/>
      <p:boldItalic r:id="rId33"/>
    </p:embeddedFont>
    <p:embeddedFont>
      <p:font typeface="Poppins SemiBold" panose="00000700000000000000" pitchFamily="2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7" roundtripDataSignature="AMtx7miIyBGqFJiBIVMPSSJVJ08VgmQ4i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d_eceblr gitam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7AD339-51BE-4A38-A1C7-CCF28897F289}">
  <a:tblStyle styleId="{DE7AD339-51BE-4A38-A1C7-CCF28897F2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A924C56-2605-4F23-9EB3-E9BB6EE8B9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51EE4F-AFDD-4CAF-9A68-E5F7998E488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E93928-965C-4434-93D3-DF2355B07969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F631A4-29D2-40AD-BCCE-37D0C2C57A83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26335F9-F63F-485A-8836-33AD16E12051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A376B42-5B4D-4A95-80B0-B5B1E67FD56F}" styleName="Table_6">
    <a:wholeTbl>
      <a:tcTxStyle b="off" i="off">
        <a:font>
          <a:latin typeface="Arial"/>
          <a:ea typeface="Arial"/>
          <a:cs typeface="Arial"/>
        </a:font>
        <a:srgbClr val="282828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C639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C639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33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gs" Target="tags/tag1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1.fntdata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87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90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20" Type="http://schemas.openxmlformats.org/officeDocument/2006/relationships/font" Target="fonts/font2.fntdata"/><Relationship Id="rId41" Type="http://schemas.openxmlformats.org/officeDocument/2006/relationships/font" Target="fonts/font23.fntdata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il Janardhan Reddy" userId="47b837310e61575b" providerId="LiveId" clId="{A5B4C17E-ECF3-496D-B63A-774957C27159}"/>
    <pc:docChg chg="undo redo custSel addSld delSld modSld sldOrd">
      <pc:chgData name="Patil Janardhan Reddy" userId="47b837310e61575b" providerId="LiveId" clId="{A5B4C17E-ECF3-496D-B63A-774957C27159}" dt="2025-11-24T16:11:21.969" v="2525" actId="478"/>
      <pc:docMkLst>
        <pc:docMk/>
      </pc:docMkLst>
      <pc:sldChg chg="addSp delSp modSp mod modTransition delAnim modAnim">
        <pc:chgData name="Patil Janardhan Reddy" userId="47b837310e61575b" providerId="LiveId" clId="{A5B4C17E-ECF3-496D-B63A-774957C27159}" dt="2025-11-24T16:11:10.637" v="2516" actId="478"/>
        <pc:sldMkLst>
          <pc:docMk/>
          <pc:sldMk cId="1429641473" sldId="289"/>
        </pc:sldMkLst>
        <pc:picChg chg="add del mod">
          <ac:chgData name="Patil Janardhan Reddy" userId="47b837310e61575b" providerId="LiveId" clId="{A5B4C17E-ECF3-496D-B63A-774957C27159}" dt="2025-11-24T16:11:10.637" v="2516" actId="478"/>
          <ac:picMkLst>
            <pc:docMk/>
            <pc:sldMk cId="1429641473" sldId="289"/>
            <ac:picMk id="2" creationId="{6062E246-D317-6AA1-0BE2-D070B3970A2A}"/>
          </ac:picMkLst>
        </pc:picChg>
      </pc:sldChg>
      <pc:sldChg chg="addSp delSp modSp mod modTransition delAnim modAnim">
        <pc:chgData name="Patil Janardhan Reddy" userId="47b837310e61575b" providerId="LiveId" clId="{A5B4C17E-ECF3-496D-B63A-774957C27159}" dt="2025-11-24T16:11:11.718" v="2517" actId="478"/>
        <pc:sldMkLst>
          <pc:docMk/>
          <pc:sldMk cId="3316315554" sldId="292"/>
        </pc:sldMkLst>
        <pc:picChg chg="add del mod">
          <ac:chgData name="Patil Janardhan Reddy" userId="47b837310e61575b" providerId="LiveId" clId="{A5B4C17E-ECF3-496D-B63A-774957C27159}" dt="2025-11-24T16:11:11.718" v="2517" actId="478"/>
          <ac:picMkLst>
            <pc:docMk/>
            <pc:sldMk cId="3316315554" sldId="292"/>
            <ac:picMk id="4" creationId="{442C0D0B-6142-E510-38A8-8F3F6215B2AC}"/>
          </ac:picMkLst>
        </pc:picChg>
      </pc:sldChg>
      <pc:sldChg chg="addSp delSp modSp mod modTransition delAnim">
        <pc:chgData name="Patil Janardhan Reddy" userId="47b837310e61575b" providerId="LiveId" clId="{A5B4C17E-ECF3-496D-B63A-774957C27159}" dt="2025-11-24T16:11:12.786" v="2518" actId="478"/>
        <pc:sldMkLst>
          <pc:docMk/>
          <pc:sldMk cId="2538241455" sldId="294"/>
        </pc:sldMkLst>
        <pc:picChg chg="add del mod">
          <ac:chgData name="Patil Janardhan Reddy" userId="47b837310e61575b" providerId="LiveId" clId="{A5B4C17E-ECF3-496D-B63A-774957C27159}" dt="2025-11-24T16:11:12.786" v="2518" actId="478"/>
          <ac:picMkLst>
            <pc:docMk/>
            <pc:sldMk cId="2538241455" sldId="294"/>
            <ac:picMk id="5" creationId="{81073D48-86CB-6530-3BDA-574ABB538636}"/>
          </ac:picMkLst>
        </pc:picChg>
      </pc:sldChg>
      <pc:sldChg chg="addSp delSp modSp mod modTransition delAnim">
        <pc:chgData name="Patil Janardhan Reddy" userId="47b837310e61575b" providerId="LiveId" clId="{A5B4C17E-ECF3-496D-B63A-774957C27159}" dt="2025-11-24T16:11:14.872" v="2520" actId="478"/>
        <pc:sldMkLst>
          <pc:docMk/>
          <pc:sldMk cId="1869460620" sldId="298"/>
        </pc:sldMkLst>
        <pc:picChg chg="add del mod">
          <ac:chgData name="Patil Janardhan Reddy" userId="47b837310e61575b" providerId="LiveId" clId="{A5B4C17E-ECF3-496D-B63A-774957C27159}" dt="2025-11-24T16:11:14.872" v="2520" actId="478"/>
          <ac:picMkLst>
            <pc:docMk/>
            <pc:sldMk cId="1869460620" sldId="298"/>
            <ac:picMk id="5" creationId="{597DE088-CA8E-2894-09EB-E168B708F427}"/>
          </ac:picMkLst>
        </pc:picChg>
      </pc:sldChg>
      <pc:sldChg chg="delSp mod delAnim">
        <pc:chgData name="Patil Janardhan Reddy" userId="47b837310e61575b" providerId="LiveId" clId="{A5B4C17E-ECF3-496D-B63A-774957C27159}" dt="2025-11-24T16:11:21.969" v="2525" actId="478"/>
        <pc:sldMkLst>
          <pc:docMk/>
          <pc:sldMk cId="0" sldId="301"/>
        </pc:sldMkLst>
        <pc:picChg chg="del">
          <ac:chgData name="Patil Janardhan Reddy" userId="47b837310e61575b" providerId="LiveId" clId="{A5B4C17E-ECF3-496D-B63A-774957C27159}" dt="2025-11-24T16:11:21.969" v="2525" actId="478"/>
          <ac:picMkLst>
            <pc:docMk/>
            <pc:sldMk cId="0" sldId="301"/>
            <ac:picMk id="2" creationId="{52949B1B-1CBB-FD69-623A-4D7F77F8680C}"/>
          </ac:picMkLst>
        </pc:picChg>
      </pc:sldChg>
      <pc:sldChg chg="addSp delSp modSp mod modTransition delAnim modAnim">
        <pc:chgData name="Patil Janardhan Reddy" userId="47b837310e61575b" providerId="LiveId" clId="{A5B4C17E-ECF3-496D-B63A-774957C27159}" dt="2025-11-24T16:11:08.965" v="2515" actId="478"/>
        <pc:sldMkLst>
          <pc:docMk/>
          <pc:sldMk cId="2901330264" sldId="531"/>
        </pc:sldMkLst>
        <pc:picChg chg="add del mod">
          <ac:chgData name="Patil Janardhan Reddy" userId="47b837310e61575b" providerId="LiveId" clId="{A5B4C17E-ECF3-496D-B63A-774957C27159}" dt="2025-11-24T16:11:08.965" v="2515" actId="478"/>
          <ac:picMkLst>
            <pc:docMk/>
            <pc:sldMk cId="2901330264" sldId="531"/>
            <ac:picMk id="3" creationId="{01DD9959-C05E-EABB-63F4-0D14C8967974}"/>
          </ac:picMkLst>
        </pc:picChg>
      </pc:sldChg>
      <pc:sldChg chg="delSp mod delAnim">
        <pc:chgData name="Patil Janardhan Reddy" userId="47b837310e61575b" providerId="LiveId" clId="{A5B4C17E-ECF3-496D-B63A-774957C27159}" dt="2025-11-24T16:11:18.098" v="2522" actId="478"/>
        <pc:sldMkLst>
          <pc:docMk/>
          <pc:sldMk cId="1995428012" sldId="532"/>
        </pc:sldMkLst>
        <pc:picChg chg="del">
          <ac:chgData name="Patil Janardhan Reddy" userId="47b837310e61575b" providerId="LiveId" clId="{A5B4C17E-ECF3-496D-B63A-774957C27159}" dt="2025-11-24T16:11:18.098" v="2522" actId="478"/>
          <ac:picMkLst>
            <pc:docMk/>
            <pc:sldMk cId="1995428012" sldId="532"/>
            <ac:picMk id="7" creationId="{32ADD6F8-8488-12B5-FD95-5E9D51C2249A}"/>
          </ac:picMkLst>
        </pc:picChg>
      </pc:sldChg>
      <pc:sldChg chg="delSp mod delAnim">
        <pc:chgData name="Patil Janardhan Reddy" userId="47b837310e61575b" providerId="LiveId" clId="{A5B4C17E-ECF3-496D-B63A-774957C27159}" dt="2025-11-24T16:11:16.018" v="2521" actId="478"/>
        <pc:sldMkLst>
          <pc:docMk/>
          <pc:sldMk cId="577884875" sldId="533"/>
        </pc:sldMkLst>
        <pc:picChg chg="del">
          <ac:chgData name="Patil Janardhan Reddy" userId="47b837310e61575b" providerId="LiveId" clId="{A5B4C17E-ECF3-496D-B63A-774957C27159}" dt="2025-11-24T16:11:16.018" v="2521" actId="478"/>
          <ac:picMkLst>
            <pc:docMk/>
            <pc:sldMk cId="577884875" sldId="533"/>
            <ac:picMk id="8" creationId="{915AAC23-5BD3-F670-FC1C-400C2DD3EE2C}"/>
          </ac:picMkLst>
        </pc:picChg>
      </pc:sldChg>
      <pc:sldChg chg="delSp mod delAnim">
        <pc:chgData name="Patil Janardhan Reddy" userId="47b837310e61575b" providerId="LiveId" clId="{A5B4C17E-ECF3-496D-B63A-774957C27159}" dt="2025-11-24T16:11:19.238" v="2523" actId="478"/>
        <pc:sldMkLst>
          <pc:docMk/>
          <pc:sldMk cId="1153469579" sldId="534"/>
        </pc:sldMkLst>
        <pc:picChg chg="del">
          <ac:chgData name="Patil Janardhan Reddy" userId="47b837310e61575b" providerId="LiveId" clId="{A5B4C17E-ECF3-496D-B63A-774957C27159}" dt="2025-11-24T16:11:19.238" v="2523" actId="478"/>
          <ac:picMkLst>
            <pc:docMk/>
            <pc:sldMk cId="1153469579" sldId="534"/>
            <ac:picMk id="11" creationId="{14D55EEC-0DAC-3FED-7903-DDB4D2C69E1B}"/>
          </ac:picMkLst>
        </pc:picChg>
      </pc:sldChg>
      <pc:sldChg chg="delSp mod delAnim">
        <pc:chgData name="Patil Janardhan Reddy" userId="47b837310e61575b" providerId="LiveId" clId="{A5B4C17E-ECF3-496D-B63A-774957C27159}" dt="2025-11-24T16:11:20.352" v="2524" actId="478"/>
        <pc:sldMkLst>
          <pc:docMk/>
          <pc:sldMk cId="1941875319" sldId="535"/>
        </pc:sldMkLst>
        <pc:picChg chg="del">
          <ac:chgData name="Patil Janardhan Reddy" userId="47b837310e61575b" providerId="LiveId" clId="{A5B4C17E-ECF3-496D-B63A-774957C27159}" dt="2025-11-24T16:11:20.352" v="2524" actId="478"/>
          <ac:picMkLst>
            <pc:docMk/>
            <pc:sldMk cId="1941875319" sldId="535"/>
            <ac:picMk id="5" creationId="{B1F7A5CA-4370-C154-7452-BFEC616601D1}"/>
          </ac:picMkLst>
        </pc:picChg>
      </pc:sldChg>
      <pc:sldChg chg="addSp delSp modSp new mod modTransition delAnim">
        <pc:chgData name="Patil Janardhan Reddy" userId="47b837310e61575b" providerId="LiveId" clId="{A5B4C17E-ECF3-496D-B63A-774957C27159}" dt="2025-11-24T16:11:13.850" v="2519" actId="478"/>
        <pc:sldMkLst>
          <pc:docMk/>
          <pc:sldMk cId="951567837" sldId="536"/>
        </pc:sldMkLst>
        <pc:picChg chg="add del mod">
          <ac:chgData name="Patil Janardhan Reddy" userId="47b837310e61575b" providerId="LiveId" clId="{A5B4C17E-ECF3-496D-B63A-774957C27159}" dt="2025-11-24T16:11:13.850" v="2519" actId="478"/>
          <ac:picMkLst>
            <pc:docMk/>
            <pc:sldMk cId="951567837" sldId="536"/>
            <ac:picMk id="2" creationId="{4D9ED9B6-7730-5E49-ACB9-24420F091CB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55F02E-3C08-AE1E-8586-E8E7CD0990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25FAD-57C3-48A0-8DDC-E6630F162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14F2F-8EAD-49A7-A8EF-9A8E9DCC375B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5DB5B-4D1B-4F17-4428-BC3F459421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874CE-76D5-C303-BA82-2A7E796E0B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54583-99CA-4BB1-8621-21CE87B92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233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4F5DA2E6-7F22-4241-BC20-FFB750256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D982CAA8-A962-C840-8D2B-A34EF3919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9C1CB7E4-6815-AC32-2B8D-06EDAD164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695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9E058B08-58E6-9F0F-DF87-5DED49A0D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53096C82-8867-D00C-A568-BCD7CB58D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BAA3ED4A-F4DD-BC77-8BF5-0B54F9756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0679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8971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ee63df26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1" name="Google Shape;741;g2fee63df2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l Content">
  <p:cSld name="General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f68141a545_0_445"/>
          <p:cNvSpPr/>
          <p:nvPr/>
        </p:nvSpPr>
        <p:spPr>
          <a:xfrm>
            <a:off x="0" y="2689"/>
            <a:ext cx="688500" cy="6858000"/>
          </a:xfrm>
          <a:prstGeom prst="rect">
            <a:avLst/>
          </a:prstGeom>
          <a:solidFill>
            <a:srgbClr val="059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2f68141a545_0_445"/>
          <p:cNvSpPr txBox="1">
            <a:spLocks noGrp="1"/>
          </p:cNvSpPr>
          <p:nvPr>
            <p:ph type="title"/>
          </p:nvPr>
        </p:nvSpPr>
        <p:spPr>
          <a:xfrm>
            <a:off x="850492" y="245369"/>
            <a:ext cx="75726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7692"/>
              </a:buClr>
              <a:buSzPts val="2400"/>
              <a:buFont typeface="Poppins SemiBold"/>
              <a:buNone/>
              <a:defRPr sz="2400" b="0" i="0" u="none" strike="noStrike" cap="none">
                <a:solidFill>
                  <a:srgbClr val="03769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" name="Google Shape;29;g2f68141a545_0_4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850490" y="902171"/>
            <a:ext cx="790813" cy="48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g2f68141a545_0_4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0470" y="5707756"/>
            <a:ext cx="805981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7884b107a2_2_16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g27884b107a2_2_16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914400" marR="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g27884b107a2_2_16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7884b107a2_0_178"/>
          <p:cNvSpPr>
            <a:spLocks noGrp="1"/>
          </p:cNvSpPr>
          <p:nvPr>
            <p:ph type="pic" idx="2"/>
          </p:nvPr>
        </p:nvSpPr>
        <p:spPr>
          <a:xfrm>
            <a:off x="1055687" y="1268413"/>
            <a:ext cx="4319700" cy="5040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5"/>
          <p:cNvSpPr/>
          <p:nvPr/>
        </p:nvSpPr>
        <p:spPr>
          <a:xfrm>
            <a:off x="6096000" y="3753134"/>
            <a:ext cx="6096000" cy="2555591"/>
          </a:xfrm>
          <a:prstGeom prst="rect">
            <a:avLst/>
          </a:prstGeom>
          <a:gradFill>
            <a:gsLst>
              <a:gs pos="0">
                <a:schemeClr val="accent2"/>
              </a:gs>
              <a:gs pos="96000">
                <a:srgbClr val="EA641A"/>
              </a:gs>
              <a:gs pos="100000">
                <a:srgbClr val="EA641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85"/>
          <p:cNvSpPr>
            <a:spLocks noGrp="1"/>
          </p:cNvSpPr>
          <p:nvPr>
            <p:ph type="pic" idx="2"/>
          </p:nvPr>
        </p:nvSpPr>
        <p:spPr>
          <a:xfrm>
            <a:off x="681672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1" name="Google Shape;41;p85"/>
          <p:cNvSpPr>
            <a:spLocks noGrp="1"/>
          </p:cNvSpPr>
          <p:nvPr>
            <p:ph type="pic" idx="3"/>
          </p:nvPr>
        </p:nvSpPr>
        <p:spPr>
          <a:xfrm>
            <a:off x="947601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7884b107a2_0_1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  <a:defRPr sz="60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g27884b107a2_0_1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g27884b107a2_0_1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g27884b107a2_0_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g27884b107a2_0_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" name="Google Shape;14;p38">
            <a:extLst>
              <a:ext uri="{FF2B5EF4-FFF2-40B4-BE49-F238E27FC236}">
                <a16:creationId xmlns:a16="http://schemas.microsoft.com/office/drawing/2014/main" id="{F1297DBC-90BB-B4E6-5D35-1E9745CE12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799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373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0C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Dept EECE, GST Bengaluru</a:t>
            </a:r>
            <a:endParaRPr sz="1800" b="0" i="0" u="none" strike="noStrike" cap="none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Google Shape;11;p64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10545066" y="6107763"/>
            <a:ext cx="1432859" cy="61408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75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orient="horz" pos="346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1706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3067">
          <p15:clr>
            <a:srgbClr val="A4A3A4"/>
          </p15:clr>
        </p15:guide>
        <p15:guide id="9" orient="horz" pos="3521">
          <p15:clr>
            <a:srgbClr val="A4A3A4"/>
          </p15:clr>
        </p15:guide>
        <p15:guide id="10" orient="horz" pos="3974">
          <p15:clr>
            <a:srgbClr val="A4A3A4"/>
          </p15:clr>
        </p15:guide>
        <p15:guide id="11" pos="4294">
          <p15:clr>
            <a:srgbClr val="A4A3A4"/>
          </p15:clr>
        </p15:guide>
        <p15:guide id="12" pos="4747">
          <p15:clr>
            <a:srgbClr val="A4A3A4"/>
          </p15:clr>
        </p15:guide>
        <p15:guide id="13" pos="211">
          <p15:clr>
            <a:srgbClr val="A4A3A4"/>
          </p15:clr>
        </p15:guide>
        <p15:guide id="14" pos="665">
          <p15:clr>
            <a:srgbClr val="A4A3A4"/>
          </p15:clr>
        </p15:guide>
        <p15:guide id="15" pos="1118">
          <p15:clr>
            <a:srgbClr val="A4A3A4"/>
          </p15:clr>
        </p15:guide>
        <p15:guide id="16" pos="1572">
          <p15:clr>
            <a:srgbClr val="A4A3A4"/>
          </p15:clr>
        </p15:guide>
        <p15:guide id="17" pos="2026">
          <p15:clr>
            <a:srgbClr val="A4A3A4"/>
          </p15:clr>
        </p15:guide>
        <p15:guide id="18" pos="2479">
          <p15:clr>
            <a:srgbClr val="A4A3A4"/>
          </p15:clr>
        </p15:guide>
        <p15:guide id="19" pos="2933">
          <p15:clr>
            <a:srgbClr val="A4A3A4"/>
          </p15:clr>
        </p15:guide>
        <p15:guide id="20" pos="3386">
          <p15:clr>
            <a:srgbClr val="A4A3A4"/>
          </p15:clr>
        </p15:guide>
        <p15:guide id="21" pos="5201">
          <p15:clr>
            <a:srgbClr val="A4A3A4"/>
          </p15:clr>
        </p15:guide>
        <p15:guide id="22" pos="5654">
          <p15:clr>
            <a:srgbClr val="A4A3A4"/>
          </p15:clr>
        </p15:guide>
        <p15:guide id="23" pos="6108">
          <p15:clr>
            <a:srgbClr val="A4A3A4"/>
          </p15:clr>
        </p15:guide>
        <p15:guide id="24" pos="6562">
          <p15:clr>
            <a:srgbClr val="A4A3A4"/>
          </p15:clr>
        </p15:guide>
        <p15:guide id="25" pos="7015">
          <p15:clr>
            <a:srgbClr val="A4A3A4"/>
          </p15:clr>
        </p15:guide>
        <p15:guide id="26" pos="7469">
          <p15:clr>
            <a:srgbClr val="A4A3A4"/>
          </p15:clr>
        </p15:guide>
        <p15:guide id="27" pos="347">
          <p15:clr>
            <a:srgbClr val="F26B43"/>
          </p15:clr>
        </p15:guide>
        <p15:guide id="28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fficetimeline.com/gantt-chart/how-to-make/exce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hyperlink" Target="https://www.teamgantt.com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E9A7-FBD8-C9FF-7958-4AF11252250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5" name="Google Shape;87;p1">
            <a:extLst>
              <a:ext uri="{FF2B5EF4-FFF2-40B4-BE49-F238E27FC236}">
                <a16:creationId xmlns:a16="http://schemas.microsoft.com/office/drawing/2014/main" id="{AD01CF2C-8332-E700-171E-F6425D2B2D23}"/>
              </a:ext>
            </a:extLst>
          </p:cNvPr>
          <p:cNvPicPr preferRelativeResize="0"/>
          <p:nvPr/>
        </p:nvPicPr>
        <p:blipFill rotWithShape="1">
          <a:blip r:embed="rId2">
            <a:alphaModFix amt="20000"/>
          </a:blip>
          <a:srcRect l="1514" r="2310" b="19493"/>
          <a:stretch/>
        </p:blipFill>
        <p:spPr>
          <a:xfrm>
            <a:off x="-1235" y="17566"/>
            <a:ext cx="12193235" cy="685059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8;p1">
            <a:extLst>
              <a:ext uri="{FF2B5EF4-FFF2-40B4-BE49-F238E27FC236}">
                <a16:creationId xmlns:a16="http://schemas.microsoft.com/office/drawing/2014/main" id="{74F321D0-F3BA-5572-DBB4-C5E77739C8E5}"/>
              </a:ext>
            </a:extLst>
          </p:cNvPr>
          <p:cNvSpPr txBox="1"/>
          <p:nvPr/>
        </p:nvSpPr>
        <p:spPr>
          <a:xfrm>
            <a:off x="2904067" y="3157752"/>
            <a:ext cx="638386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GITAM (Deemed-to-be) University</a:t>
            </a:r>
            <a:endParaRPr lang="en-US" sz="2800" dirty="0"/>
          </a:p>
        </p:txBody>
      </p:sp>
      <p:sp>
        <p:nvSpPr>
          <p:cNvPr id="11" name="Google Shape;93;p1">
            <a:extLst>
              <a:ext uri="{FF2B5EF4-FFF2-40B4-BE49-F238E27FC236}">
                <a16:creationId xmlns:a16="http://schemas.microsoft.com/office/drawing/2014/main" id="{5F318AA7-C96A-3AAD-7C94-E53133C5AD6C}"/>
              </a:ext>
            </a:extLst>
          </p:cNvPr>
          <p:cNvSpPr/>
          <p:nvPr/>
        </p:nvSpPr>
        <p:spPr>
          <a:xfrm>
            <a:off x="3060700" y="6148918"/>
            <a:ext cx="6096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www.gitam.edu</a:t>
            </a:r>
            <a:endParaRPr sz="1200" b="0" i="0" u="none" strike="noStrike" cap="none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" name="Google Shape;94;p1">
            <a:extLst>
              <a:ext uri="{FF2B5EF4-FFF2-40B4-BE49-F238E27FC236}">
                <a16:creationId xmlns:a16="http://schemas.microsoft.com/office/drawing/2014/main" id="{27E17DC4-EBA4-36D1-CC55-FFAF1FD93FF1}"/>
              </a:ext>
            </a:extLst>
          </p:cNvPr>
          <p:cNvGrpSpPr/>
          <p:nvPr/>
        </p:nvGrpSpPr>
        <p:grpSpPr>
          <a:xfrm rot="2700000">
            <a:off x="5984712" y="5183993"/>
            <a:ext cx="231043" cy="225933"/>
            <a:chOff x="11087593" y="13905"/>
            <a:chExt cx="1085533" cy="1061509"/>
          </a:xfrm>
        </p:grpSpPr>
        <p:sp>
          <p:nvSpPr>
            <p:cNvPr id="13" name="Google Shape;95;p1">
              <a:extLst>
                <a:ext uri="{FF2B5EF4-FFF2-40B4-BE49-F238E27FC236}">
                  <a16:creationId xmlns:a16="http://schemas.microsoft.com/office/drawing/2014/main" id="{AE7092A2-B102-1273-6C25-E1736799EF72}"/>
                </a:ext>
              </a:extLst>
            </p:cNvPr>
            <p:cNvSpPr/>
            <p:nvPr/>
          </p:nvSpPr>
          <p:spPr>
            <a:xfrm>
              <a:off x="11087593" y="548342"/>
              <a:ext cx="537028" cy="527072"/>
            </a:xfrm>
            <a:prstGeom prst="rect">
              <a:avLst/>
            </a:prstGeom>
            <a:solidFill>
              <a:srgbClr val="DF2A3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6;p1">
              <a:extLst>
                <a:ext uri="{FF2B5EF4-FFF2-40B4-BE49-F238E27FC236}">
                  <a16:creationId xmlns:a16="http://schemas.microsoft.com/office/drawing/2014/main" id="{CD50D2DC-2455-5951-3C5D-BB02F217709E}"/>
                </a:ext>
              </a:extLst>
            </p:cNvPr>
            <p:cNvSpPr/>
            <p:nvPr/>
          </p:nvSpPr>
          <p:spPr>
            <a:xfrm>
              <a:off x="11636098" y="13905"/>
              <a:ext cx="537028" cy="527079"/>
            </a:xfrm>
            <a:prstGeom prst="rect">
              <a:avLst/>
            </a:prstGeom>
            <a:solidFill>
              <a:srgbClr val="3A3A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104;p1">
            <a:extLst>
              <a:ext uri="{FF2B5EF4-FFF2-40B4-BE49-F238E27FC236}">
                <a16:creationId xmlns:a16="http://schemas.microsoft.com/office/drawing/2014/main" id="{C323D64D-BE3D-E115-33E9-192C329B4C2B}"/>
              </a:ext>
            </a:extLst>
          </p:cNvPr>
          <p:cNvSpPr/>
          <p:nvPr/>
        </p:nvSpPr>
        <p:spPr>
          <a:xfrm>
            <a:off x="2904067" y="3856219"/>
            <a:ext cx="609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Department of Electrical Electronics and Communication Engineering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5;p1">
            <a:extLst>
              <a:ext uri="{FF2B5EF4-FFF2-40B4-BE49-F238E27FC236}">
                <a16:creationId xmlns:a16="http://schemas.microsoft.com/office/drawing/2014/main" id="{C9CF77E4-28A7-270F-8F1A-AFD4E8DCECCF}"/>
              </a:ext>
            </a:extLst>
          </p:cNvPr>
          <p:cNvSpPr/>
          <p:nvPr/>
        </p:nvSpPr>
        <p:spPr>
          <a:xfrm>
            <a:off x="9156700" y="5791918"/>
            <a:ext cx="29269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1;p1">
            <a:extLst>
              <a:ext uri="{FF2B5EF4-FFF2-40B4-BE49-F238E27FC236}">
                <a16:creationId xmlns:a16="http://schemas.microsoft.com/office/drawing/2014/main" id="{037B6323-B919-404C-9A53-E2D1EEBBC29E}"/>
              </a:ext>
            </a:extLst>
          </p:cNvPr>
          <p:cNvSpPr/>
          <p:nvPr/>
        </p:nvSpPr>
        <p:spPr>
          <a:xfrm>
            <a:off x="133754" y="4504626"/>
            <a:ext cx="292694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Team: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Shravani C L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Ch Pavan Kumar</a:t>
            </a:r>
            <a:endParaRPr lang="en-US" b="1" dirty="0">
              <a:solidFill>
                <a:schemeClr val="dk1"/>
              </a:solidFill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P Janardhan Reddy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11;p1">
            <a:extLst>
              <a:ext uri="{FF2B5EF4-FFF2-40B4-BE49-F238E27FC236}">
                <a16:creationId xmlns:a16="http://schemas.microsoft.com/office/drawing/2014/main" id="{663FF154-6303-06EF-099B-905F19C206B2}"/>
              </a:ext>
            </a:extLst>
          </p:cNvPr>
          <p:cNvSpPr/>
          <p:nvPr/>
        </p:nvSpPr>
        <p:spPr>
          <a:xfrm>
            <a:off x="9322056" y="5040405"/>
            <a:ext cx="292694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Mentor: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Dr. Seetha Chaithanya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In-charge: </a:t>
            </a:r>
            <a:r>
              <a:rPr lang="en-US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Kshitij Shakya</a:t>
            </a:r>
            <a:endParaRPr lang="en-US" b="1" dirty="0">
              <a:solidFill>
                <a:schemeClr val="dk1"/>
              </a:solidFill>
              <a:ea typeface="Montserrat Medium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i="0" u="none" strike="noStrike" cap="none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1" name="Google Shape;67;p1">
            <a:extLst>
              <a:ext uri="{FF2B5EF4-FFF2-40B4-BE49-F238E27FC236}">
                <a16:creationId xmlns:a16="http://schemas.microsoft.com/office/drawing/2014/main" id="{14559E83-6276-698C-A2DC-9D1D6C0E44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1352" y="1778687"/>
            <a:ext cx="2674631" cy="12456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8;p1">
            <a:extLst>
              <a:ext uri="{FF2B5EF4-FFF2-40B4-BE49-F238E27FC236}">
                <a16:creationId xmlns:a16="http://schemas.microsoft.com/office/drawing/2014/main" id="{8CF9D16E-FF17-2A50-8767-3A06BCEC2AD9}"/>
              </a:ext>
            </a:extLst>
          </p:cNvPr>
          <p:cNvSpPr txBox="1"/>
          <p:nvPr/>
        </p:nvSpPr>
        <p:spPr>
          <a:xfrm>
            <a:off x="3404151" y="166586"/>
            <a:ext cx="522918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Vehicle Control Unit (VCU)</a:t>
            </a:r>
            <a:endParaRPr lang="en-US" sz="2800" dirty="0"/>
          </a:p>
        </p:txBody>
      </p:sp>
      <p:sp>
        <p:nvSpPr>
          <p:cNvPr id="23" name="Google Shape;88;p1">
            <a:extLst>
              <a:ext uri="{FF2B5EF4-FFF2-40B4-BE49-F238E27FC236}">
                <a16:creationId xmlns:a16="http://schemas.microsoft.com/office/drawing/2014/main" id="{D8F66EB9-9CBE-8ACD-E616-93A5AE55CF5C}"/>
              </a:ext>
            </a:extLst>
          </p:cNvPr>
          <p:cNvSpPr txBox="1"/>
          <p:nvPr/>
        </p:nvSpPr>
        <p:spPr>
          <a:xfrm>
            <a:off x="9812887" y="141274"/>
            <a:ext cx="224536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Review-I</a:t>
            </a:r>
            <a:endParaRPr lang="en-US" sz="2000" i="1" dirty="0"/>
          </a:p>
        </p:txBody>
      </p:sp>
      <p:sp>
        <p:nvSpPr>
          <p:cNvPr id="25" name="Google Shape;120;p76">
            <a:extLst>
              <a:ext uri="{FF2B5EF4-FFF2-40B4-BE49-F238E27FC236}">
                <a16:creationId xmlns:a16="http://schemas.microsoft.com/office/drawing/2014/main" id="{38A183C7-510B-0906-FECD-64BA2B628A0E}"/>
              </a:ext>
            </a:extLst>
          </p:cNvPr>
          <p:cNvSpPr/>
          <p:nvPr/>
        </p:nvSpPr>
        <p:spPr>
          <a:xfrm>
            <a:off x="133753" y="2965411"/>
            <a:ext cx="2432050" cy="818907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AY 2025-26 </a:t>
            </a:r>
            <a:endParaRPr sz="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20;p76">
            <a:extLst>
              <a:ext uri="{FF2B5EF4-FFF2-40B4-BE49-F238E27FC236}">
                <a16:creationId xmlns:a16="http://schemas.microsoft.com/office/drawing/2014/main" id="{B3C9655A-2680-CBD4-341A-460C55A63157}"/>
              </a:ext>
            </a:extLst>
          </p:cNvPr>
          <p:cNvSpPr/>
          <p:nvPr/>
        </p:nvSpPr>
        <p:spPr>
          <a:xfrm>
            <a:off x="9287933" y="2965412"/>
            <a:ext cx="2770314" cy="818907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600"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Capstone Project – </a:t>
            </a:r>
            <a:r>
              <a:rPr lang="en-US" sz="18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Introduction (PROJ2999)</a:t>
            </a:r>
            <a:endParaRPr lang="en-US" sz="1800" b="1" i="0" u="none" strike="noStrike" cap="none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0133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972"/>
    </mc:Choice>
    <mc:Fallback xmlns="">
      <p:transition spd="slow" advTm="209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016D5E0D-E878-63B4-A1A9-208E58ED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1EF97A4B-E82E-712F-CA13-78D59E17A26B}"/>
              </a:ext>
            </a:extLst>
          </p:cNvPr>
          <p:cNvSpPr txBox="1"/>
          <p:nvPr/>
        </p:nvSpPr>
        <p:spPr>
          <a:xfrm>
            <a:off x="96964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Objective and Goals</a:t>
            </a:r>
            <a:endParaRPr dirty="0"/>
          </a:p>
        </p:txBody>
      </p:sp>
      <p:sp>
        <p:nvSpPr>
          <p:cNvPr id="3" name="Google Shape;120;p76">
            <a:extLst>
              <a:ext uri="{FF2B5EF4-FFF2-40B4-BE49-F238E27FC236}">
                <a16:creationId xmlns:a16="http://schemas.microsoft.com/office/drawing/2014/main" id="{CA08A1E2-29B3-F3D5-48A9-5D1EA6629717}"/>
              </a:ext>
            </a:extLst>
          </p:cNvPr>
          <p:cNvSpPr/>
          <p:nvPr/>
        </p:nvSpPr>
        <p:spPr>
          <a:xfrm>
            <a:off x="550606" y="765905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Objective 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0;p76">
            <a:extLst>
              <a:ext uri="{FF2B5EF4-FFF2-40B4-BE49-F238E27FC236}">
                <a16:creationId xmlns:a16="http://schemas.microsoft.com/office/drawing/2014/main" id="{17BF0AA4-CB04-F194-9E07-5F430F49129E}"/>
              </a:ext>
            </a:extLst>
          </p:cNvPr>
          <p:cNvSpPr/>
          <p:nvPr/>
        </p:nvSpPr>
        <p:spPr>
          <a:xfrm>
            <a:off x="550606" y="2882445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Goals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111477-E886-23E8-64BD-4CADAD76379A}"/>
              </a:ext>
            </a:extLst>
          </p:cNvPr>
          <p:cNvSpPr txBox="1"/>
          <p:nvPr/>
        </p:nvSpPr>
        <p:spPr>
          <a:xfrm>
            <a:off x="1000124" y="1403616"/>
            <a:ext cx="994317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To implement and control the BLDC Motor with a programmable VCU and integrate it with BMS to manage the powertrain, battery and associated subsystems for EVs.</a:t>
            </a:r>
          </a:p>
          <a:p>
            <a:pPr algn="just"/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9AEFFB-1A20-899A-F8E0-29DEDB267EF4}"/>
              </a:ext>
            </a:extLst>
          </p:cNvPr>
          <p:cNvSpPr txBox="1"/>
          <p:nvPr/>
        </p:nvSpPr>
        <p:spPr>
          <a:xfrm>
            <a:off x="1000123" y="3322719"/>
            <a:ext cx="994317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Verdana" panose="020B0604030504040204" pitchFamily="34" charset="0"/>
                <a:ea typeface="Verdana" panose="020B0604030504040204" pitchFamily="34" charset="0"/>
              </a:rPr>
              <a:t>Main Goals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Act as Brain of the Electric Vehicle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Read Driver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Driver Command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BMS Coordination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Power Distribution and Safety</a:t>
            </a:r>
          </a:p>
          <a:p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1600" b="1" dirty="0">
                <a:latin typeface="Verdana" panose="020B0604030504040204" pitchFamily="34" charset="0"/>
                <a:ea typeface="Verdana" panose="020B0604030504040204" pitchFamily="34" charset="0"/>
              </a:rPr>
              <a:t>Additional Goals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Learn about STM32 Microcontroller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Data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Diagnostics and Monitoring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B294828-0F9E-F06A-05D5-7A5C37AB3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4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062"/>
    </mc:Choice>
    <mc:Fallback xmlns="">
      <p:transition spd="slow" advTm="6006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5D277163-DDF4-8A7D-727E-9DC95265C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C6ECFB60-4922-9557-3C5E-7FA842E8B16A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Gantt Chart  - Milestones and Activities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Resources : 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https://www.officetimeline.com/</a:t>
            </a:r>
            <a:r>
              <a:rPr lang="en-IN" dirty="0">
                <a:hlinkClick r:id="rId3"/>
              </a:rPr>
              <a:t>gantt-chart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/how-to-make/excel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&amp; 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https://www.teamgantt.com/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41AC6-CE23-A38B-BD86-17E34844F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2977A3E-566F-814B-0D9C-37C0E1141171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AD40CB-84E2-4C41-17E2-432A9D73F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83" y="1928842"/>
            <a:ext cx="11321518" cy="3262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28615D-F22D-200D-2B7F-978C1D6E3BB0}"/>
              </a:ext>
            </a:extLst>
          </p:cNvPr>
          <p:cNvSpPr txBox="1"/>
          <p:nvPr/>
        </p:nvSpPr>
        <p:spPr>
          <a:xfrm>
            <a:off x="5147732" y="5206996"/>
            <a:ext cx="195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Fig 1: Gantt Chart</a:t>
            </a:r>
          </a:p>
        </p:txBody>
      </p:sp>
    </p:spTree>
    <p:extLst>
      <p:ext uri="{BB962C8B-B14F-4D97-AF65-F5344CB8AC3E}">
        <p14:creationId xmlns:p14="http://schemas.microsoft.com/office/powerpoint/2010/main" val="3316315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387"/>
    </mc:Choice>
    <mc:Fallback xmlns="">
      <p:transition spd="slow" advTm="2138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B61C2-B595-6D36-CB78-3791DED72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050F573B-21F3-B526-5212-5E481ED19CDC}"/>
              </a:ext>
            </a:extLst>
          </p:cNvPr>
          <p:cNvSpPr txBox="1"/>
          <p:nvPr/>
        </p:nvSpPr>
        <p:spPr>
          <a:xfrm>
            <a:off x="1000124" y="15099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Literature Survey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A2765D-85C8-21C4-DAC2-86154B998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11646"/>
              </p:ext>
            </p:extLst>
          </p:nvPr>
        </p:nvGraphicFramePr>
        <p:xfrm>
          <a:off x="233680" y="719669"/>
          <a:ext cx="11775439" cy="5411349"/>
        </p:xfrm>
        <a:graphic>
          <a:graphicData uri="http://schemas.openxmlformats.org/drawingml/2006/table">
            <a:tbl>
              <a:tblPr firstRow="1" bandRow="1">
                <a:tableStyleId>{DE7AD339-51BE-4A38-A1C7-CCF28897F289}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117164931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228472036"/>
                    </a:ext>
                  </a:extLst>
                </a:gridCol>
                <a:gridCol w="2245360">
                  <a:extLst>
                    <a:ext uri="{9D8B030D-6E8A-4147-A177-3AD203B41FA5}">
                      <a16:colId xmlns:a16="http://schemas.microsoft.com/office/drawing/2014/main" val="2396499969"/>
                    </a:ext>
                  </a:extLst>
                </a:gridCol>
                <a:gridCol w="1494261">
                  <a:extLst>
                    <a:ext uri="{9D8B030D-6E8A-4147-A177-3AD203B41FA5}">
                      <a16:colId xmlns:a16="http://schemas.microsoft.com/office/drawing/2014/main" val="2138814115"/>
                    </a:ext>
                  </a:extLst>
                </a:gridCol>
                <a:gridCol w="3707658">
                  <a:extLst>
                    <a:ext uri="{9D8B030D-6E8A-4147-A177-3AD203B41FA5}">
                      <a16:colId xmlns:a16="http://schemas.microsoft.com/office/drawing/2014/main" val="2969843522"/>
                    </a:ext>
                  </a:extLst>
                </a:gridCol>
              </a:tblGrid>
              <a:tr h="351669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>
                          <a:latin typeface="Montserrat" panose="00000500000000000000" pitchFamily="2" charset="0"/>
                        </a:rPr>
                        <a:t>S.No</a:t>
                      </a:r>
                      <a:endParaRPr lang="en-IN" b="1" dirty="0">
                        <a:latin typeface="Montserrat" panose="000005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Montserrat" panose="00000500000000000000" pitchFamily="2" charset="0"/>
                        </a:rPr>
                        <a:t>Article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Montserrat" panose="00000500000000000000" pitchFamily="2" charset="0"/>
                        </a:rPr>
                        <a:t>Authors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Montserrat" panose="00000500000000000000" pitchFamily="2" charset="0"/>
                        </a:rPr>
                        <a:t>Published 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Montserrat" panose="00000500000000000000" pitchFamily="2" charset="0"/>
                        </a:rPr>
                        <a:t>Description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584486"/>
                  </a:ext>
                </a:extLst>
              </a:tr>
              <a:tr h="1127378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Evolving Electric Mobility Energy Efficiency: In-Depth Analysis of Integrated Electronic Control Unit Development in Electric Vehicles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Syed Shehryar Ali Naqvi, Harun Jamil, Naeem Iqbal, Salabat Khan, Murad Ali Khan, Faiza Qayyum, Do-</a:t>
                      </a:r>
                      <a:r>
                        <a:rPr lang="en-IN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Hyeun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Kim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22 Jan 2024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Comprehensive review of integrated ECUs in EVs, examining development approaches, algorithms, subsystems (VCU, EPS, ESC, BCU), their roles in energy efficiency, real-world applications, and future research directions.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426521"/>
                  </a:ext>
                </a:extLst>
              </a:tr>
              <a:tr h="1086738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Automotive Software in Connected and Autonomous Electric Vehicles: A Review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Hrvoje </a:t>
                      </a:r>
                      <a:r>
                        <a:rPr lang="en-IN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Vdovic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Jurica Babic, Vedran </a:t>
                      </a:r>
                      <a:r>
                        <a:rPr lang="en-IN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Podobni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27 Nov 2019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Summarizes the architecture of ECUs, the importance of centralized software for VCU, AUTOSAR, drive-by-wire, and modern EV control strategies; highlights trends and challenges in software-driven VCU development.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543855"/>
                  </a:ext>
                </a:extLst>
              </a:tr>
              <a:tr h="1198498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Requirements-Driven Automotive Electrical/Electronic Architecture: A Survey and Prospective Trends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Hailong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Zhu, Wei Zhou, Zhiheng Li, Li </a:t>
                      </a:r>
                      <a:r>
                        <a:rPr lang="en-IN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Li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Tao Huang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21 Jul 2021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Reviews state-of-the-art and future trends in automotive electrical/electronic (EE) architecture, zone-based and centralized computing, software-driven VCU evolution, and implications for integrating advanced control units.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2794"/>
                  </a:ext>
                </a:extLst>
              </a:tr>
              <a:tr h="856755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Electronic Control System Design and Test of Pure Electric Vehicle Battery Management System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dirty="0" err="1">
                          <a:effectLst/>
                        </a:rPr>
                        <a:t>Yeqin</a:t>
                      </a:r>
                      <a:r>
                        <a:rPr lang="en-IN" dirty="0">
                          <a:effectLst/>
                        </a:rPr>
                        <a:t> Wang, Yixing Liu</a:t>
                      </a:r>
                    </a:p>
                  </a:txBody>
                  <a:tcPr marL="60960" marR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dirty="0">
                          <a:effectLst/>
                        </a:rPr>
                        <a:t>2011</a:t>
                      </a:r>
                    </a:p>
                  </a:txBody>
                  <a:tcPr marL="60960" marR="609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Modular BMS and ECU integration using CAN and RS485 communication, with real-time battery data collection, fault diagnosis, and SOC estimation for vehicle control units.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803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B2BA4FC-688C-0D9D-E4E5-45025BEE9AF3}"/>
              </a:ext>
            </a:extLst>
          </p:cNvPr>
          <p:cNvSpPr txBox="1"/>
          <p:nvPr/>
        </p:nvSpPr>
        <p:spPr>
          <a:xfrm>
            <a:off x="4309533" y="6131018"/>
            <a:ext cx="287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Table 1: Literature Survey </a:t>
            </a:r>
          </a:p>
        </p:txBody>
      </p:sp>
    </p:spTree>
    <p:extLst>
      <p:ext uri="{BB962C8B-B14F-4D97-AF65-F5344CB8AC3E}">
        <p14:creationId xmlns:p14="http://schemas.microsoft.com/office/powerpoint/2010/main" val="253824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03"/>
    </mc:Choice>
    <mc:Fallback xmlns="">
      <p:transition spd="slow" advTm="211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CC39DB-03EE-8701-E65A-9F61F075DA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C26CF-B18B-414D-330B-48B448B249E5}"/>
              </a:ext>
            </a:extLst>
          </p:cNvPr>
          <p:cNvSpPr txBox="1"/>
          <p:nvPr/>
        </p:nvSpPr>
        <p:spPr>
          <a:xfrm>
            <a:off x="944880" y="817900"/>
            <a:ext cx="46939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Montserrat" panose="00000500000000000000" pitchFamily="2" charset="0"/>
              </a:rPr>
              <a:t>Resources</a:t>
            </a:r>
            <a:r>
              <a:rPr lang="en-IN" sz="1600" b="1" dirty="0">
                <a:latin typeface="Montserrat" panose="00000500000000000000" pitchFamily="2" charset="0"/>
              </a:rPr>
              <a:t>:</a:t>
            </a:r>
          </a:p>
          <a:p>
            <a:endParaRPr lang="en-IN" sz="1600" b="1" dirty="0">
              <a:latin typeface="Montserrat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Montserrat" panose="00000500000000000000" pitchFamily="2" charset="0"/>
              </a:rPr>
              <a:t>Manufacturers:</a:t>
            </a:r>
          </a:p>
          <a:p>
            <a:pPr lvl="3"/>
            <a:r>
              <a:rPr lang="en-IN" sz="1600" dirty="0">
                <a:latin typeface="Montserrat" panose="00000500000000000000" pitchFamily="2" charset="0"/>
              </a:rPr>
              <a:t>         1. Electra EV</a:t>
            </a:r>
          </a:p>
          <a:p>
            <a:pPr lvl="3"/>
            <a:r>
              <a:rPr lang="en-IN" sz="1600" dirty="0">
                <a:latin typeface="Montserrat" panose="00000500000000000000" pitchFamily="2" charset="0"/>
              </a:rPr>
              <a:t>         2. </a:t>
            </a:r>
            <a:r>
              <a:rPr lang="en-IN" sz="1600" dirty="0" err="1"/>
              <a:t>Saietta</a:t>
            </a:r>
            <a:r>
              <a:rPr lang="en-IN" sz="1600" dirty="0"/>
              <a:t> VNA + </a:t>
            </a:r>
            <a:r>
              <a:rPr lang="en-IN" sz="1600" dirty="0" err="1"/>
              <a:t>HCLTech</a:t>
            </a:r>
            <a:r>
              <a:rPr lang="en-IN" sz="1600" dirty="0"/>
              <a:t> (India)</a:t>
            </a:r>
          </a:p>
          <a:p>
            <a:pPr lvl="3"/>
            <a:r>
              <a:rPr lang="en-IN" sz="1600" dirty="0">
                <a:latin typeface="Montserrat" panose="00000500000000000000" pitchFamily="2" charset="0"/>
              </a:rPr>
              <a:t>         3. </a:t>
            </a:r>
            <a:r>
              <a:rPr lang="en-IN" sz="1600" dirty="0"/>
              <a:t>NXP S32K VCU Solutions</a:t>
            </a:r>
            <a:r>
              <a:rPr lang="en-IN" sz="1600" dirty="0">
                <a:latin typeface="Montserrat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156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84"/>
    </mc:Choice>
    <mc:Fallback xmlns="">
      <p:transition spd="slow" advTm="3018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53F8-9556-4270-5B9D-9550237E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CA8DE1-C914-AC92-41A9-F53CE64505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DB20A693-DAF6-90F8-E452-0AF12BA5AC45}"/>
              </a:ext>
            </a:extLst>
          </p:cNvPr>
          <p:cNvSpPr txBox="1"/>
          <p:nvPr/>
        </p:nvSpPr>
        <p:spPr>
          <a:xfrm>
            <a:off x="838200" y="20179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Block Diagram  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50B42-98B5-EF73-0985-623D9653E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20" y="1182996"/>
            <a:ext cx="8381160" cy="4492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F15C65-E3A8-2C75-D988-A7A17A92CE2A}"/>
              </a:ext>
            </a:extLst>
          </p:cNvPr>
          <p:cNvSpPr txBox="1"/>
          <p:nvPr/>
        </p:nvSpPr>
        <p:spPr>
          <a:xfrm>
            <a:off x="3657599" y="5675004"/>
            <a:ext cx="579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Fig 2: Block diagram representation of VCU along with ECU</a:t>
            </a:r>
          </a:p>
        </p:txBody>
      </p:sp>
    </p:spTree>
    <p:extLst>
      <p:ext uri="{BB962C8B-B14F-4D97-AF65-F5344CB8AC3E}">
        <p14:creationId xmlns:p14="http://schemas.microsoft.com/office/powerpoint/2010/main" val="186946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14"/>
    </mc:Choice>
    <mc:Fallback xmlns="">
      <p:transition spd="slow" advTm="3801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0E7A9-97A1-CBE9-924F-060E44F5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9FFFA7-73AD-0BDB-17EC-5E6C998C18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D0E3BA9F-A222-E721-C7A4-A58110FC32CF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  </a:t>
            </a:r>
            <a:endParaRPr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D967EF05-D896-CDBB-576D-D7391E3060F0}"/>
              </a:ext>
            </a:extLst>
          </p:cNvPr>
          <p:cNvSpPr txBox="1"/>
          <p:nvPr/>
        </p:nvSpPr>
        <p:spPr>
          <a:xfrm>
            <a:off x="838200" y="201795"/>
            <a:ext cx="27432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  </a:t>
            </a:r>
            <a:endParaRPr dirty="0"/>
          </a:p>
        </p:txBody>
      </p:sp>
      <p:pic>
        <p:nvPicPr>
          <p:cNvPr id="7" name="Picture 2" descr="What is a Vehicle Control Unit?">
            <a:extLst>
              <a:ext uri="{FF2B5EF4-FFF2-40B4-BE49-F238E27FC236}">
                <a16:creationId xmlns:a16="http://schemas.microsoft.com/office/drawing/2014/main" id="{A23A4A3A-2B06-6794-D317-74A11A028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220" y="695652"/>
            <a:ext cx="9031559" cy="508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E30C32-8BA5-E884-E5BD-51448C806299}"/>
              </a:ext>
            </a:extLst>
          </p:cNvPr>
          <p:cNvSpPr txBox="1"/>
          <p:nvPr/>
        </p:nvSpPr>
        <p:spPr>
          <a:xfrm>
            <a:off x="376766" y="232275"/>
            <a:ext cx="3666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Block Diagram Continuation…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5EBEC-EC16-B3E9-9669-3607E760FC7F}"/>
              </a:ext>
            </a:extLst>
          </p:cNvPr>
          <p:cNvSpPr txBox="1"/>
          <p:nvPr/>
        </p:nvSpPr>
        <p:spPr>
          <a:xfrm>
            <a:off x="3581400" y="5777615"/>
            <a:ext cx="5063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Fig 3: Proposed block diagram representation of  VCU</a:t>
            </a:r>
          </a:p>
        </p:txBody>
      </p:sp>
    </p:spTree>
    <p:extLst>
      <p:ext uri="{BB962C8B-B14F-4D97-AF65-F5344CB8AC3E}">
        <p14:creationId xmlns:p14="http://schemas.microsoft.com/office/powerpoint/2010/main" val="57788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329"/>
    </mc:Choice>
    <mc:Fallback xmlns="">
      <p:transition spd="slow" advTm="2732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5D3A-9A48-EF9A-EB65-EB10498F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7AF62C-2799-3920-609C-4BB1158D8D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4B16CBD0-DE63-9577-B3D8-89D754C838DF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 Cases &amp; Testing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260EAF32-7213-2CCB-4658-501C4BEA8CF4}"/>
              </a:ext>
            </a:extLst>
          </p:cNvPr>
          <p:cNvSpPr txBox="1"/>
          <p:nvPr/>
        </p:nvSpPr>
        <p:spPr>
          <a:xfrm>
            <a:off x="452284" y="788096"/>
            <a:ext cx="5761704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latin typeface="Verdana" panose="020B0604030504040204" pitchFamily="34" charset="0"/>
                <a:ea typeface="Verdana" panose="020B0604030504040204" pitchFamily="34" charset="0"/>
              </a:rPr>
              <a:t>Use Cases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Vehicle Startup (OFF-&gt;Ready)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Driving (Torque Request)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Battery Monitoring (BMS)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CAN Communication loss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System Shutdown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Google Shape;125;p3">
            <a:extLst>
              <a:ext uri="{FF2B5EF4-FFF2-40B4-BE49-F238E27FC236}">
                <a16:creationId xmlns:a16="http://schemas.microsoft.com/office/drawing/2014/main" id="{1DFC5A03-8723-D0D0-00E3-3B2AA3C32CD5}"/>
              </a:ext>
            </a:extLst>
          </p:cNvPr>
          <p:cNvSpPr txBox="1"/>
          <p:nvPr/>
        </p:nvSpPr>
        <p:spPr>
          <a:xfrm>
            <a:off x="6213988" y="757114"/>
            <a:ext cx="5761704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latin typeface="Verdana" panose="020B0604030504040204" pitchFamily="34" charset="0"/>
                <a:ea typeface="Verdana" panose="020B0604030504040204" pitchFamily="34" charset="0"/>
              </a:rPr>
              <a:t>Test Cases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Turn ignition ON-&gt;VCU checks system readiness-&gt; READY LED ON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Vary accelerator potentiometer -&gt; Torque command on CAN -&gt; Motor RPM increases proportionally</a:t>
            </a: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Simulate SOC &lt; 20% from BMS -&gt; VCU limits torque or blocks DRIVE mode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Disconnect CAN to Inverter/BMS -&gt; VCU detects timeout -&gt; Enters FAULT, disables torque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Turn ignition OFF -&gt; VCU disables contactors, motor stops, system enters OFF state</a:t>
            </a: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2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53"/>
    </mc:Choice>
    <mc:Fallback xmlns="">
      <p:transition spd="slow" advTm="2155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3AFA72-B0AF-343B-1A94-FF8EA6D12D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F4D8AD-18C2-08C0-8F80-BC20745FBCED}"/>
              </a:ext>
            </a:extLst>
          </p:cNvPr>
          <p:cNvSpPr txBox="1"/>
          <p:nvPr/>
        </p:nvSpPr>
        <p:spPr>
          <a:xfrm>
            <a:off x="934719" y="759820"/>
            <a:ext cx="2582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Verdana" panose="020B0604030504040204" pitchFamily="34" charset="0"/>
                <a:ea typeface="Verdana" panose="020B0604030504040204" pitchFamily="34" charset="0"/>
              </a:rPr>
              <a:t>Motor Control: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D6912-35AE-CE3B-826A-07E0D0BE6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19" y="1181602"/>
            <a:ext cx="5692462" cy="31102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2760BD-BD3D-2BCD-7394-FD9C32EB2F79}"/>
              </a:ext>
            </a:extLst>
          </p:cNvPr>
          <p:cNvSpPr txBox="1"/>
          <p:nvPr/>
        </p:nvSpPr>
        <p:spPr>
          <a:xfrm>
            <a:off x="934719" y="4920162"/>
            <a:ext cx="68004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Control Torque/speed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Read brake pedal sensor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Map brake pedal sensor% for Regenerative Braking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VCU monitors BPS or vehicle deacceleration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4467E-A5C3-64EB-596D-6E5AFEC62C24}"/>
              </a:ext>
            </a:extLst>
          </p:cNvPr>
          <p:cNvSpPr txBox="1"/>
          <p:nvPr/>
        </p:nvSpPr>
        <p:spPr>
          <a:xfrm>
            <a:off x="4334933" y="221952"/>
            <a:ext cx="4460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Montserrat" panose="00000500000000000000" pitchFamily="2" charset="0"/>
              </a:rPr>
              <a:t>Requirement Analysis: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386189-61BE-EEF2-81AA-BF8519DA75F9}"/>
              </a:ext>
            </a:extLst>
          </p:cNvPr>
          <p:cNvSpPr txBox="1"/>
          <p:nvPr/>
        </p:nvSpPr>
        <p:spPr>
          <a:xfrm>
            <a:off x="1117601" y="4605871"/>
            <a:ext cx="284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Estimation Parameters: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A8DEE-A876-67DE-182E-AC5F1654DBDD}"/>
              </a:ext>
            </a:extLst>
          </p:cNvPr>
          <p:cNvSpPr txBox="1"/>
          <p:nvPr/>
        </p:nvSpPr>
        <p:spPr>
          <a:xfrm>
            <a:off x="1249416" y="4291580"/>
            <a:ext cx="5063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Fig 3: Schematic representation of Motor Control Unit</a:t>
            </a:r>
          </a:p>
        </p:txBody>
      </p:sp>
    </p:spTree>
    <p:extLst>
      <p:ext uri="{BB962C8B-B14F-4D97-AF65-F5344CB8AC3E}">
        <p14:creationId xmlns:p14="http://schemas.microsoft.com/office/powerpoint/2010/main" val="115346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332"/>
    </mc:Choice>
    <mc:Fallback xmlns="">
      <p:transition spd="slow" advTm="11133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F5E6E3-5525-24E1-FEAE-665581DEA9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5BA1D-6700-AEDE-86C2-4CA669CDD8F8}"/>
              </a:ext>
            </a:extLst>
          </p:cNvPr>
          <p:cNvSpPr txBox="1"/>
          <p:nvPr/>
        </p:nvSpPr>
        <p:spPr>
          <a:xfrm>
            <a:off x="626533" y="449385"/>
            <a:ext cx="322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Verdana" panose="020B0604030504040204" pitchFamily="34" charset="0"/>
                <a:ea typeface="Verdana" panose="020B0604030504040204" pitchFamily="34" charset="0"/>
              </a:rPr>
              <a:t>Battery Parameters: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CF714-4C77-6D68-10CC-9BEBCF4810DD}"/>
              </a:ext>
            </a:extLst>
          </p:cNvPr>
          <p:cNvSpPr txBox="1"/>
          <p:nvPr/>
        </p:nvSpPr>
        <p:spPr>
          <a:xfrm>
            <a:off x="853438" y="932500"/>
            <a:ext cx="503936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Monitor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SoC, </a:t>
            </a:r>
            <a:r>
              <a:rPr lang="en-IN" dirty="0" err="1">
                <a:latin typeface="Verdana" panose="020B0604030504040204" pitchFamily="34" charset="0"/>
                <a:ea typeface="Verdana" panose="020B0604030504040204" pitchFamily="34" charset="0"/>
              </a:rPr>
              <a:t>SoH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Charging current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Battery Temperature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Faults or warnings</a:t>
            </a:r>
          </a:p>
          <a:p>
            <a:pPr marL="800100" lvl="1" indent="-342900">
              <a:buFont typeface="+mj-lt"/>
              <a:buAutoNum type="arabicPeriod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Check for PLC, PP, CP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Stop charging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Target SoC reached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User unplugs connector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Faults or Warnings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A57C3-CDB3-107A-A628-484FEF6D882A}"/>
              </a:ext>
            </a:extLst>
          </p:cNvPr>
          <p:cNvSpPr txBox="1"/>
          <p:nvPr/>
        </p:nvSpPr>
        <p:spPr>
          <a:xfrm>
            <a:off x="626533" y="3895096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Verdana" panose="020B0604030504040204" pitchFamily="34" charset="0"/>
                <a:ea typeface="Verdana" panose="020B0604030504040204" pitchFamily="34" charset="0"/>
              </a:rPr>
              <a:t>Communications</a:t>
            </a: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F9A83C-F035-42C8-A1B3-99785097C404}"/>
              </a:ext>
            </a:extLst>
          </p:cNvPr>
          <p:cNvSpPr txBox="1"/>
          <p:nvPr/>
        </p:nvSpPr>
        <p:spPr>
          <a:xfrm>
            <a:off x="853438" y="4421294"/>
            <a:ext cx="61891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CAN 2.0 / CAN FD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OBD-II for diagnostics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Ethernet for future OTA upgrades</a:t>
            </a:r>
          </a:p>
        </p:txBody>
      </p:sp>
    </p:spTree>
    <p:extLst>
      <p:ext uri="{BB962C8B-B14F-4D97-AF65-F5344CB8AC3E}">
        <p14:creationId xmlns:p14="http://schemas.microsoft.com/office/powerpoint/2010/main" val="194187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15"/>
    </mc:Choice>
    <mc:Fallback xmlns="">
      <p:transition spd="slow" advTm="1161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fee63df26b_0_0"/>
          <p:cNvSpPr txBox="1"/>
          <p:nvPr/>
        </p:nvSpPr>
        <p:spPr>
          <a:xfrm>
            <a:off x="1233714" y="2607717"/>
            <a:ext cx="97245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en-US" sz="11500" b="1" i="0" u="none" strike="noStrike" cap="none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THANK </a:t>
            </a:r>
            <a:r>
              <a:rPr lang="en-US" sz="11500" b="1" i="0" u="none" strike="noStrike" cap="non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YOU</a:t>
            </a:r>
            <a:endParaRPr sz="1400" b="0" i="0" u="none" strike="noStrike" cap="non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44" name="Google Shape;744;g2fee63df26b_0_0"/>
          <p:cNvSpPr txBox="1"/>
          <p:nvPr/>
        </p:nvSpPr>
        <p:spPr>
          <a:xfrm>
            <a:off x="1596571" y="4466045"/>
            <a:ext cx="8998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Have a Great Day ! </a:t>
            </a:r>
            <a:endParaRPr sz="1400" b="0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42"/>
    </mc:Choice>
    <mc:Fallback xmlns="">
      <p:transition spd="slow" advTm="234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012333-A005-FEA0-4811-C852E2C2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AD13B1-3AD5-5F48-5EA6-8283F4D732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3B14D212-DF1F-F61D-ECD3-9D20601BCEB3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and Results – Iteration 1 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ECA415C5-05E9-EE8C-B516-CAA160872052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Iteration 1 : Results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190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84FB4E-AB25-B986-6544-C0296069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2EDE2B-D87B-D03F-3482-F7F114A4F0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C625E54E-A86D-9B94-B470-0435C69F95E5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and Results – Iteration 2 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67B823CE-7BA9-D714-A424-29AA44BD6144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Iteration : Results + Validation against the use cases and test cases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468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A65F51-F37A-0F0B-AFF4-2134BDC0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0440EB-4A8A-D93C-606D-594A9C00C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6E899E6C-558C-950D-AACE-666F4910120B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and Results – Iteration </a:t>
            </a:r>
            <a:r>
              <a:rPr lang="en-US" sz="2400" b="1" dirty="0">
                <a:latin typeface="Montserrat"/>
                <a:ea typeface="Montserrat"/>
                <a:cs typeface="Montserrat"/>
                <a:sym typeface="Montserrat"/>
              </a:rPr>
              <a:t>3 (Optional)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935777F9-D82A-2939-0C57-126FBC7D4C26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Iteration : Results + Validation against the use cases and test cases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600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EA98FA-4F35-C93F-73A2-485950D05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32046-4ACE-A1E3-4010-52881C9836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9BB43107-1A1B-029D-C73C-2126600571B2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Future Work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8EB3901A-2C1A-A66B-C9AE-81E8FAFAB4FF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Summary and Conclusion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Future Work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8261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12e713-2dca-40f0-9e5e-b71e83d0a0b8"/>
</p:tagLst>
</file>

<file path=ppt/theme/theme1.xml><?xml version="1.0" encoding="utf-8"?>
<a:theme xmlns:a="http://schemas.openxmlformats.org/drawingml/2006/main" name="Office Theme">
  <a:themeElements>
    <a:clrScheme name="Custom 77">
      <a:dk1>
        <a:srgbClr val="282828"/>
      </a:dk1>
      <a:lt1>
        <a:srgbClr val="FFFFFF"/>
      </a:lt1>
      <a:dk2>
        <a:srgbClr val="282828"/>
      </a:dk2>
      <a:lt2>
        <a:srgbClr val="FAFAFA"/>
      </a:lt2>
      <a:accent1>
        <a:srgbClr val="FFC639"/>
      </a:accent1>
      <a:accent2>
        <a:srgbClr val="F29B6B"/>
      </a:accent2>
      <a:accent3>
        <a:srgbClr val="CCD4FB"/>
      </a:accent3>
      <a:accent4>
        <a:srgbClr val="2B7158"/>
      </a:accent4>
      <a:accent5>
        <a:srgbClr val="456AB8"/>
      </a:accent5>
      <a:accent6>
        <a:srgbClr val="36383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CB5C8A-4CA5-4EA2-8E5A-1941D1D42F0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5327</TotalTime>
  <Words>747</Words>
  <Application>Microsoft Office PowerPoint</Application>
  <PresentationFormat>Widescreen</PresentationFormat>
  <Paragraphs>154</Paragraphs>
  <Slides>15</Slides>
  <Notes>4</Notes>
  <HiddenSlides>4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Calibri</vt:lpstr>
      <vt:lpstr>Aharoni</vt:lpstr>
      <vt:lpstr>Wingdings</vt:lpstr>
      <vt:lpstr>Open Sans</vt:lpstr>
      <vt:lpstr>Arial</vt:lpstr>
      <vt:lpstr>Montserrat</vt:lpstr>
      <vt:lpstr>Poppins SemiBold</vt:lpstr>
      <vt:lpstr>Montserrat Medium</vt:lpstr>
      <vt:lpstr>Plus Jakarta Sans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GITAM</dc:creator>
  <cp:lastModifiedBy>Patil Janardhan Reddy</cp:lastModifiedBy>
  <cp:revision>32</cp:revision>
  <dcterms:created xsi:type="dcterms:W3CDTF">2022-05-23T07:15:42Z</dcterms:created>
  <dcterms:modified xsi:type="dcterms:W3CDTF">2025-11-24T16:11:24Z</dcterms:modified>
</cp:coreProperties>
</file>